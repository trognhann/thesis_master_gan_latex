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7F5CC-5FF8-6AF6-B373-E5E6A5F35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AD8B1-5803-732E-3CD6-1DF4E191B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0CB3C-CF6E-1087-F123-B1E536C42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47A4-CF2E-4814-8EF5-9F19129A64E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2AF10-83C0-6568-25D7-14E5EFD79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446E3-061B-531A-365E-7F0A57FF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8BBC-04E2-4FFD-8541-14FF46D92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01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284E1-2EEE-D7E4-D6E4-68CBDC9C4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E88D2-BDD8-AD90-9AEF-581802F44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7E82E-85E1-80AB-D46D-798081E35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47A4-CF2E-4814-8EF5-9F19129A64E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1FE95-3363-B8A4-2B0A-C7633AE1A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89C68-2D53-B524-BF2B-4354FBC9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8BBC-04E2-4FFD-8541-14FF46D92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10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9FD81-C50E-B9D3-CC9A-E97424F54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7B653-D4AE-1111-E2EC-894A34D2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1450D-F09B-8818-C0E5-A77A3E8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47A4-CF2E-4814-8EF5-9F19129A64E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FB6D7-949B-602C-3A0E-5035C34DF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5DFB9-8808-44BA-26A2-DFB08112D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8BBC-04E2-4FFD-8541-14FF46D92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52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E3A3F-2240-CD44-441F-3DB0F2AF9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7FC13-0F66-FD0B-F4AB-9238A1C02D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74CDA7-DC3E-F37D-AD11-B02CFE280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B7BDF-3D36-9BBB-D178-DEC469B8A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47A4-CF2E-4814-8EF5-9F19129A64E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A7ECD-B178-FE49-2C4A-9FF945100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3D20D-1038-D1D5-8871-B74C1A586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8BBC-04E2-4FFD-8541-14FF46D92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86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FF7E-CCB7-CA09-9765-D0E38AD90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8DA69-F90B-CEDE-37F9-06899EA89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F08C7-098D-6B18-C154-BF0DEA1B0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A97213-ACE5-7FEF-70B5-463E6DA5C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C9B9EF-FA6B-AC74-93F4-1C4FDDA6A9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36D1B-C52E-D598-51D4-674EE0D6D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47A4-CF2E-4814-8EF5-9F19129A64E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1EA372-5F66-67B4-1407-1FFFA8580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43ED1C-DBEF-7DEF-19CA-784033A7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8BBC-04E2-4FFD-8541-14FF46D92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97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319A-1BC6-15CA-62A9-EF8F5650E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D54230-68F5-2504-F228-AE52B5DA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47A4-CF2E-4814-8EF5-9F19129A64E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5EE013-3AAD-60FF-1FBF-615293425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7FADF-6A13-2686-708E-05439737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8BBC-04E2-4FFD-8541-14FF46D92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14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75514A-441E-592A-DBFF-42007AD9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47A4-CF2E-4814-8EF5-9F19129A64E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659A1D-3B1B-F991-D4A4-0ED36D947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61B19-9E68-146A-E0C9-7A2559D4D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8BBC-04E2-4FFD-8541-14FF46D92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65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4DCA5-6073-2994-48A2-526A8E4BF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054EA-DBC9-328F-A522-6B372BB75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91104-86AC-EF58-D906-4AFC452A5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0F729-4BE7-70FA-BD43-DF46C9C8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47A4-CF2E-4814-8EF5-9F19129A64E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51EB18-7749-00C3-DD0D-ED04CCB7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1D2C1-E42D-AA79-66E0-89B1A94BC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8BBC-04E2-4FFD-8541-14FF46D92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8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C09F8-9FDB-5B25-5D1C-D9EBD8AFF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099BED-1639-64FD-79F7-2FA5354A2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2FF90-B034-68E1-ED13-1E43CCDC8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7FA92-86E8-A8B6-88B9-29F2A7B5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47A4-CF2E-4814-8EF5-9F19129A64E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24512-22E5-E8C0-EAFE-6CE322764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E468B-3BAE-32FD-DC98-508DBD4DD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8BBC-04E2-4FFD-8541-14FF46D92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1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C5F4D-8DE9-985A-38D4-E423D5FA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C95BB7-3B3A-A82F-DB49-BEB976623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489B3-6860-235B-0425-653A10CA5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47A4-CF2E-4814-8EF5-9F19129A64E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51869-1A9E-C8E3-7BC3-188185865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10424-DC4D-AAA3-530D-B56E910C1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8BBC-04E2-4FFD-8541-14FF46D92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ECBA53-C73B-FF93-A49E-315C26D8E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DD7BF6-22A5-5D13-217A-E7DCCFE69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9704F-A8F0-8A5A-9178-A5984A7C3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C47A4-CF2E-4814-8EF5-9F19129A64E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2C6AD-6D34-304C-A087-0B5D09256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135B1-E3AA-AA6B-A77F-34F4C5198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8BBC-04E2-4FFD-8541-14FF46D92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24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9EB2AF-AF92-A98C-884F-B8A9AC910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8ADB-9B00-69BD-7F2D-FF05E2026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C28C2-D22C-2435-3711-BDDD1747F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C47A4-CF2E-4814-8EF5-9F19129A64E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BD484-D873-5467-6179-70B5DBC09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BFF70-4258-1468-FC72-9ED70D1C4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7D8BBC-04E2-4FFD-8541-14FF46D923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39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package" Target="../embeddings/Microsoft_Excel_Worksheet1.xls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10985-5940-537C-C50C-DC81BF328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1948" y="73246"/>
            <a:ext cx="6928104" cy="1050227"/>
          </a:xfrm>
        </p:spPr>
        <p:txBody>
          <a:bodyPr>
            <a:normAutofit/>
          </a:bodyPr>
          <a:lstStyle/>
          <a:p>
            <a:r>
              <a:rPr lang="vi-VN" sz="2800" dirty="0"/>
              <a:t>ĐẠI HỌC QUỐC GIA HÀ NỘI</a:t>
            </a:r>
            <a:br>
              <a:rPr lang="en-US" sz="2800" dirty="0"/>
            </a:br>
            <a:r>
              <a:rPr lang="vi-VN" sz="2800" dirty="0"/>
              <a:t>TRƯỜNG ĐẠI HỌC CÔNG NGHỆ</a:t>
            </a:r>
            <a:endParaRPr lang="en-US" sz="28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E391D5-EC56-4F0B-76EB-C9ACD89562E5}"/>
              </a:ext>
            </a:extLst>
          </p:cNvPr>
          <p:cNvSpPr/>
          <p:nvPr/>
        </p:nvSpPr>
        <p:spPr>
          <a:xfrm>
            <a:off x="1252728" y="2107692"/>
            <a:ext cx="9948672" cy="1979676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/>
              <a:t>Mạng</a:t>
            </a:r>
            <a:r>
              <a:rPr lang="en-US" sz="3200" b="1" dirty="0"/>
              <a:t> </a:t>
            </a:r>
            <a:r>
              <a:rPr lang="en-US" sz="3200" b="1" dirty="0" err="1"/>
              <a:t>Đối</a:t>
            </a:r>
            <a:r>
              <a:rPr lang="en-US" sz="3200" b="1" dirty="0"/>
              <a:t> </a:t>
            </a:r>
            <a:r>
              <a:rPr lang="en-US" sz="3200" b="1" dirty="0" err="1"/>
              <a:t>Nghịch</a:t>
            </a:r>
            <a:r>
              <a:rPr lang="en-US" sz="3200" b="1" dirty="0"/>
              <a:t> </a:t>
            </a:r>
            <a:r>
              <a:rPr lang="en-US" sz="3200" b="1" dirty="0" err="1"/>
              <a:t>Tạo</a:t>
            </a:r>
            <a:r>
              <a:rPr lang="en-US" sz="3200" b="1" dirty="0"/>
              <a:t> Sinh Trong </a:t>
            </a:r>
            <a:r>
              <a:rPr lang="en-US" sz="3200" b="1" dirty="0" err="1"/>
              <a:t>Chuyển</a:t>
            </a:r>
            <a:r>
              <a:rPr lang="en-US" sz="3200" b="1" dirty="0"/>
              <a:t> </a:t>
            </a:r>
            <a:r>
              <a:rPr lang="en-US" sz="3200" b="1" dirty="0" err="1"/>
              <a:t>Đổi</a:t>
            </a:r>
            <a:r>
              <a:rPr lang="en-US" sz="3200" b="1" dirty="0"/>
              <a:t> </a:t>
            </a:r>
          </a:p>
          <a:p>
            <a:pPr algn="ctr"/>
            <a:r>
              <a:rPr lang="en-US" sz="3200" b="1" dirty="0" err="1"/>
              <a:t>Ảnh</a:t>
            </a:r>
            <a:r>
              <a:rPr lang="en-US" sz="3200" b="1" dirty="0"/>
              <a:t> </a:t>
            </a:r>
            <a:r>
              <a:rPr lang="en-US" sz="3200" b="1" dirty="0" err="1"/>
              <a:t>Chân</a:t>
            </a:r>
            <a:r>
              <a:rPr lang="en-US" sz="3200" b="1" dirty="0"/>
              <a:t> Dung Sang Phong </a:t>
            </a:r>
            <a:r>
              <a:rPr lang="en-US" sz="3200" b="1" dirty="0" err="1"/>
              <a:t>Cách</a:t>
            </a:r>
            <a:r>
              <a:rPr lang="en-US" sz="3200" b="1" dirty="0"/>
              <a:t> Anime</a:t>
            </a:r>
          </a:p>
        </p:txBody>
      </p:sp>
      <p:pic>
        <p:nvPicPr>
          <p:cNvPr id="6" name="Picture 5" descr="TRƯỜNG ĐẠI HỌC CÔNG NGHỆ (VNU-UET)">
            <a:extLst>
              <a:ext uri="{FF2B5EF4-FFF2-40B4-BE49-F238E27FC236}">
                <a16:creationId xmlns:a16="http://schemas.microsoft.com/office/drawing/2014/main" id="{1761E691-D5D2-C5A6-9913-772E66B03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56" y="205990"/>
            <a:ext cx="1683327" cy="16833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F0810F-BCB8-DB25-F2D2-6227D96BF403}"/>
              </a:ext>
            </a:extLst>
          </p:cNvPr>
          <p:cNvSpPr txBox="1"/>
          <p:nvPr/>
        </p:nvSpPr>
        <p:spPr>
          <a:xfrm>
            <a:off x="2584704" y="4782312"/>
            <a:ext cx="7022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dirty="0"/>
              <a:t>Học viên: </a:t>
            </a:r>
            <a:r>
              <a:rPr lang="vi-VN" b="1" dirty="0"/>
              <a:t>Nguyễn Trọng Nhân </a:t>
            </a:r>
            <a:r>
              <a:rPr lang="vi-VN" dirty="0"/>
              <a:t>– 24025149</a:t>
            </a:r>
            <a:endParaRPr lang="en-US" dirty="0"/>
          </a:p>
          <a:p>
            <a:pPr algn="ctr"/>
            <a:r>
              <a:rPr lang="vi-VN" dirty="0"/>
              <a:t>GVHD: </a:t>
            </a:r>
            <a:r>
              <a:rPr lang="vi-VN" b="1" dirty="0"/>
              <a:t>TS. Ma Thị Châu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vi-VN" dirty="0"/>
              <a:t>Trường Đại học Công nghệ – ĐHQGHN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141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DB5213-6D56-C5DA-30C2-3B968E387B17}"/>
              </a:ext>
            </a:extLst>
          </p:cNvPr>
          <p:cNvSpPr/>
          <p:nvPr/>
        </p:nvSpPr>
        <p:spPr>
          <a:xfrm>
            <a:off x="0" y="0"/>
            <a:ext cx="12192000" cy="777240"/>
          </a:xfrm>
          <a:prstGeom prst="roundRect">
            <a:avLst>
              <a:gd name="adj" fmla="val 0"/>
            </a:avLst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/>
              <a:t>1. Bài toán &amp; Động lực nghiên cứu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079A58-425E-6C9C-B8FD-C5F7A828A377}"/>
              </a:ext>
            </a:extLst>
          </p:cNvPr>
          <p:cNvSpPr txBox="1"/>
          <p:nvPr/>
        </p:nvSpPr>
        <p:spPr>
          <a:xfrm>
            <a:off x="427482" y="1135303"/>
            <a:ext cx="6176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: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dung </a:t>
            </a:r>
            <a:r>
              <a:rPr lang="en-US" dirty="0" err="1"/>
              <a:t>thực</a:t>
            </a:r>
            <a:r>
              <a:rPr lang="en-US" dirty="0"/>
              <a:t> → </a:t>
            </a:r>
            <a:r>
              <a:rPr lang="en-US" dirty="0" err="1"/>
              <a:t>anime,bảo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EFD603-14D4-1BB8-8D4F-AED53B36307E}"/>
              </a:ext>
            </a:extLst>
          </p:cNvPr>
          <p:cNvSpPr/>
          <p:nvPr/>
        </p:nvSpPr>
        <p:spPr>
          <a:xfrm>
            <a:off x="443484" y="2834641"/>
            <a:ext cx="5888736" cy="2322575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err="1">
                <a:solidFill>
                  <a:schemeClr val="tx1"/>
                </a:solidFill>
              </a:rPr>
              <a:t>Mất</a:t>
            </a:r>
            <a:r>
              <a:rPr lang="en-US" sz="1600" b="1" dirty="0">
                <a:solidFill>
                  <a:schemeClr val="tx1"/>
                </a:solidFill>
              </a:rPr>
              <a:t> chi </a:t>
            </a:r>
            <a:r>
              <a:rPr lang="en-US" sz="1600" b="1" dirty="0" err="1">
                <a:solidFill>
                  <a:schemeClr val="tx1"/>
                </a:solidFill>
              </a:rPr>
              <a:t>tiết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khuôn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mặt</a:t>
            </a:r>
            <a:r>
              <a:rPr lang="en-US" sz="1600" b="1" dirty="0">
                <a:solidFill>
                  <a:schemeClr val="tx1"/>
                </a:solidFill>
              </a:rPr>
              <a:t> (GANs): </a:t>
            </a:r>
            <a:r>
              <a:rPr lang="en-US" sz="1600" dirty="0">
                <a:solidFill>
                  <a:schemeClr val="tx1"/>
                </a:solidFill>
              </a:rPr>
              <a:t>CycleGAN,AnimeGANv2 </a:t>
            </a:r>
            <a:r>
              <a:rPr lang="en-US" sz="1600" dirty="0" err="1">
                <a:solidFill>
                  <a:schemeClr val="tx1"/>
                </a:solidFill>
              </a:rPr>
              <a:t>xử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lý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toàn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ảnh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cùng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độ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phân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giải</a:t>
            </a:r>
            <a:r>
              <a:rPr lang="en-US" sz="1600" dirty="0">
                <a:solidFill>
                  <a:schemeClr val="tx1"/>
                </a:solidFill>
              </a:rPr>
              <a:t> ⇒</a:t>
            </a:r>
            <a:r>
              <a:rPr lang="en-US" sz="1600" dirty="0" err="1">
                <a:solidFill>
                  <a:schemeClr val="tx1"/>
                </a:solidFill>
              </a:rPr>
              <a:t>ngũ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quan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bị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mờ</a:t>
            </a:r>
            <a:r>
              <a:rPr lang="en-US" sz="1600" dirty="0">
                <a:solidFill>
                  <a:schemeClr val="tx1"/>
                </a:solidFill>
              </a:rPr>
              <a:t>/</a:t>
            </a:r>
            <a:r>
              <a:rPr lang="en-US" sz="1600" dirty="0" err="1">
                <a:solidFill>
                  <a:schemeClr val="tx1"/>
                </a:solidFill>
              </a:rPr>
              <a:t>méo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khi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mặt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nhỏ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trong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ảnh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b="1" dirty="0">
                <a:solidFill>
                  <a:schemeClr val="tx1"/>
                </a:solidFill>
              </a:rPr>
              <a:t>Tốn chi phí tính toán (Diffusion): </a:t>
            </a:r>
            <a:r>
              <a:rPr lang="vi-VN" sz="1600" dirty="0">
                <a:solidFill>
                  <a:schemeClr val="tx1"/>
                </a:solidFill>
              </a:rPr>
              <a:t>Stable Diffusion+ ControlNet đẹp nhưng nặng (2–7GB, 8–16GBVRAM, chỉ 0.5–2 FPS) ⇒ khó triển khai mobile/webreal-time.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4F6B41A5-2AA9-0490-69E9-265FFB02B2B7}"/>
              </a:ext>
            </a:extLst>
          </p:cNvPr>
          <p:cNvSpPr/>
          <p:nvPr/>
        </p:nvSpPr>
        <p:spPr>
          <a:xfrm>
            <a:off x="443484" y="2331721"/>
            <a:ext cx="5888736" cy="502920"/>
          </a:xfrm>
          <a:prstGeom prst="round2Same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/>
              <a:t>Thách</a:t>
            </a:r>
            <a:r>
              <a:rPr lang="en-US" b="1" dirty="0"/>
              <a:t> </a:t>
            </a:r>
            <a:r>
              <a:rPr lang="en-US" b="1" dirty="0" err="1"/>
              <a:t>thức</a:t>
            </a:r>
            <a:r>
              <a:rPr lang="en-US" b="1" dirty="0"/>
              <a:t> </a:t>
            </a:r>
            <a:r>
              <a:rPr lang="en-US" b="1" dirty="0" err="1"/>
              <a:t>hiện</a:t>
            </a:r>
            <a:r>
              <a:rPr lang="en-US" b="1" dirty="0"/>
              <a:t> </a:t>
            </a:r>
            <a:r>
              <a:rPr lang="en-US" b="1" dirty="0" err="1"/>
              <a:t>tại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1EB968-09A7-260E-B21E-152F7D0DB5B5}"/>
              </a:ext>
            </a:extLst>
          </p:cNvPr>
          <p:cNvSpPr txBox="1"/>
          <p:nvPr/>
        </p:nvSpPr>
        <p:spPr>
          <a:xfrm>
            <a:off x="443484" y="5579287"/>
            <a:ext cx="6176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⇒ </a:t>
            </a:r>
            <a:r>
              <a:rPr lang="en-US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Mục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tiêu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đề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tài</a:t>
            </a: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: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nhẹ</a:t>
            </a:r>
            <a:r>
              <a:rPr lang="en-US" dirty="0"/>
              <a:t> (9.1MB),</a:t>
            </a:r>
            <a:r>
              <a:rPr lang="en-US" dirty="0" err="1"/>
              <a:t>nhanh</a:t>
            </a:r>
            <a:r>
              <a:rPr lang="en-US" dirty="0"/>
              <a:t> (42FPS),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khuôn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8E91A3-E5BD-2187-E943-BB2626B6C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183" y="1199311"/>
            <a:ext cx="5235335" cy="29448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937A123-35B8-57DB-0EC4-BB92022F6A19}"/>
              </a:ext>
            </a:extLst>
          </p:cNvPr>
          <p:cNvSpPr txBox="1"/>
          <p:nvPr/>
        </p:nvSpPr>
        <p:spPr>
          <a:xfrm>
            <a:off x="7142593" y="4196926"/>
            <a:ext cx="4818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Gốc</a:t>
            </a:r>
            <a:r>
              <a:rPr lang="en-US" dirty="0"/>
              <a:t>            → Landscape Mode → </a:t>
            </a:r>
            <a:r>
              <a:rPr lang="en-US" b="1" dirty="0"/>
              <a:t>Hybrid Mode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430E1A-3804-D75F-8A02-4AE7A5E2D635}"/>
              </a:ext>
            </a:extLst>
          </p:cNvPr>
          <p:cNvSpPr txBox="1"/>
          <p:nvPr/>
        </p:nvSpPr>
        <p:spPr>
          <a:xfrm>
            <a:off x="7381099" y="4492405"/>
            <a:ext cx="4341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</a:t>
            </a:r>
            <a:r>
              <a:rPr lang="en-US" b="1" dirty="0"/>
              <a:t>Hybrid Mode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nét</a:t>
            </a:r>
            <a:r>
              <a:rPr lang="en-US" dirty="0"/>
              <a:t> </a:t>
            </a:r>
            <a:r>
              <a:rPr lang="en-US" dirty="0" err="1"/>
              <a:t>ngũ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rệt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2365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51D41-97C8-14BE-4C83-FA9CF20C5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C0260F-598D-9A7D-A412-01D6753CBD55}"/>
              </a:ext>
            </a:extLst>
          </p:cNvPr>
          <p:cNvSpPr/>
          <p:nvPr/>
        </p:nvSpPr>
        <p:spPr>
          <a:xfrm>
            <a:off x="0" y="0"/>
            <a:ext cx="12192000" cy="777240"/>
          </a:xfrm>
          <a:prstGeom prst="roundRect">
            <a:avLst>
              <a:gd name="adj" fmla="val 0"/>
            </a:avLst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2. </a:t>
            </a:r>
            <a:r>
              <a:rPr lang="en-US" sz="3200" b="1" dirty="0" err="1"/>
              <a:t>Mô</a:t>
            </a:r>
            <a:r>
              <a:rPr lang="en-US" sz="3200" b="1" dirty="0"/>
              <a:t> </a:t>
            </a:r>
            <a:r>
              <a:rPr lang="en-US" sz="3200" b="1" dirty="0" err="1"/>
              <a:t>hình</a:t>
            </a:r>
            <a:r>
              <a:rPr lang="en-US" sz="3200" b="1" dirty="0"/>
              <a:t> </a:t>
            </a:r>
            <a:r>
              <a:rPr lang="en-US" sz="3200" b="1" dirty="0" err="1"/>
              <a:t>đề</a:t>
            </a:r>
            <a:r>
              <a:rPr lang="en-US" sz="3200" b="1" dirty="0"/>
              <a:t> </a:t>
            </a:r>
            <a:r>
              <a:rPr lang="en-US" sz="3200" b="1" dirty="0" err="1"/>
              <a:t>xuất</a:t>
            </a:r>
            <a:r>
              <a:rPr lang="en-US" sz="3200" b="1" dirty="0"/>
              <a:t> &amp; </a:t>
            </a:r>
            <a:r>
              <a:rPr lang="en-US" sz="3200" b="1" dirty="0" err="1"/>
              <a:t>Thiết</a:t>
            </a:r>
            <a:r>
              <a:rPr lang="en-US" sz="3200" b="1" dirty="0"/>
              <a:t> </a:t>
            </a:r>
            <a:r>
              <a:rPr lang="en-US" sz="3200" b="1" dirty="0" err="1"/>
              <a:t>kế</a:t>
            </a:r>
            <a:r>
              <a:rPr lang="en-US" sz="3200" b="1" dirty="0"/>
              <a:t> </a:t>
            </a:r>
            <a:r>
              <a:rPr lang="en-US" sz="3200" b="1" dirty="0" err="1"/>
              <a:t>kỹ</a:t>
            </a:r>
            <a:r>
              <a:rPr lang="en-US" sz="3200" b="1" dirty="0"/>
              <a:t> </a:t>
            </a:r>
            <a:r>
              <a:rPr lang="en-US" sz="3200" b="1" dirty="0" err="1"/>
              <a:t>thuật</a:t>
            </a:r>
            <a:endParaRPr lang="en-US" sz="32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877949-7D5B-3E3E-4DD6-48098F9460D7}"/>
              </a:ext>
            </a:extLst>
          </p:cNvPr>
          <p:cNvSpPr/>
          <p:nvPr/>
        </p:nvSpPr>
        <p:spPr>
          <a:xfrm>
            <a:off x="352044" y="1545337"/>
            <a:ext cx="5888736" cy="1883663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</a:rPr>
              <a:t>Backbone: </a:t>
            </a:r>
            <a:r>
              <a:rPr lang="en-US" sz="1600" dirty="0">
                <a:solidFill>
                  <a:schemeClr val="tx1"/>
                </a:solidFill>
              </a:rPr>
              <a:t>DTGAN (AnimeGANv3) – Double-</a:t>
            </a:r>
            <a:r>
              <a:rPr lang="en-US" sz="1600" dirty="0" err="1">
                <a:solidFill>
                  <a:schemeClr val="tx1"/>
                </a:solidFill>
              </a:rPr>
              <a:t>TailGenerator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với</a:t>
            </a:r>
            <a:r>
              <a:rPr lang="en-US" sz="1600" dirty="0">
                <a:solidFill>
                  <a:schemeClr val="tx1"/>
                </a:solidFill>
              </a:rPr>
              <a:t> LADE normalization.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</a:rPr>
              <a:t>Face Detector: </a:t>
            </a:r>
            <a:r>
              <a:rPr lang="en-US" sz="1600" dirty="0" err="1">
                <a:solidFill>
                  <a:schemeClr val="tx1"/>
                </a:solidFill>
              </a:rPr>
              <a:t>RetinaFace</a:t>
            </a:r>
            <a:r>
              <a:rPr lang="en-US" sz="1600" dirty="0">
                <a:solidFill>
                  <a:schemeClr val="tx1"/>
                </a:solidFill>
              </a:rPr>
              <a:t> MobileNet-0.25(∼500KB).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</a:rPr>
              <a:t>Adaptive Modes: </a:t>
            </a:r>
            <a:r>
              <a:rPr lang="en-US" sz="1600" dirty="0">
                <a:solidFill>
                  <a:schemeClr val="tx1"/>
                </a:solidFill>
              </a:rPr>
              <a:t>Face / Landscape / </a:t>
            </a:r>
            <a:r>
              <a:rPr lang="en-US" sz="1600" dirty="0" err="1">
                <a:solidFill>
                  <a:schemeClr val="tx1"/>
                </a:solidFill>
              </a:rPr>
              <a:t>Hybridmode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A4A8F4E6-4CD0-F49B-7BC2-4710D547A390}"/>
              </a:ext>
            </a:extLst>
          </p:cNvPr>
          <p:cNvSpPr/>
          <p:nvPr/>
        </p:nvSpPr>
        <p:spPr>
          <a:xfrm>
            <a:off x="352044" y="1042417"/>
            <a:ext cx="5888736" cy="502920"/>
          </a:xfrm>
          <a:prstGeom prst="round2Same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/>
              <a:t>Kiến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 Face-Preserved </a:t>
            </a:r>
            <a:r>
              <a:rPr lang="en-US" b="1" dirty="0" err="1"/>
              <a:t>HybridFramework</a:t>
            </a:r>
            <a:endParaRPr lang="en-US" b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DC87C42-2C1F-6C04-A439-A718B5EE3F87}"/>
              </a:ext>
            </a:extLst>
          </p:cNvPr>
          <p:cNvSpPr/>
          <p:nvPr/>
        </p:nvSpPr>
        <p:spPr>
          <a:xfrm>
            <a:off x="352044" y="4306825"/>
            <a:ext cx="5888736" cy="1883663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b="1" dirty="0">
                <a:solidFill>
                  <a:schemeClr val="tx1"/>
                </a:solidFill>
              </a:rPr>
              <a:t>Symmetric Margin Expansion: </a:t>
            </a:r>
            <a:r>
              <a:rPr lang="vi-VN" sz="1600" dirty="0">
                <a:solidFill>
                  <a:schemeClr val="tx1"/>
                </a:solidFill>
              </a:rPr>
              <a:t>Mở rộng bbox50%, ép 1:1, clamp biên ảnh → bảo toàn tóc, tai,cổ cho generator.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b="1" dirty="0">
                <a:solidFill>
                  <a:schemeClr val="tx1"/>
                </a:solidFill>
              </a:rPr>
              <a:t>Feathered Blending: </a:t>
            </a:r>
            <a:r>
              <a:rPr lang="vi-VN" sz="1600" dirty="0">
                <a:solidFill>
                  <a:schemeClr val="tx1"/>
                </a:solidFill>
              </a:rPr>
              <a:t>Alpha compositing với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vi-VN" sz="1600" dirty="0">
                <a:solidFill>
                  <a:schemeClr val="tx1"/>
                </a:solidFill>
              </a:rPr>
              <a:t>mask Gaussian → ghép mặt HD vào nền mượt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mà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38474955-0645-706E-909E-AB3902D561F3}"/>
              </a:ext>
            </a:extLst>
          </p:cNvPr>
          <p:cNvSpPr/>
          <p:nvPr/>
        </p:nvSpPr>
        <p:spPr>
          <a:xfrm>
            <a:off x="352044" y="3803905"/>
            <a:ext cx="5888736" cy="502920"/>
          </a:xfrm>
          <a:prstGeom prst="round2Same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kỹ</a:t>
            </a:r>
            <a:r>
              <a:rPr lang="en-US" b="1" dirty="0"/>
              <a:t> </a:t>
            </a:r>
            <a:r>
              <a:rPr lang="en-US" b="1" dirty="0" err="1"/>
              <a:t>thuật</a:t>
            </a:r>
            <a:r>
              <a:rPr lang="en-US" b="1" dirty="0"/>
              <a:t> </a:t>
            </a:r>
            <a:r>
              <a:rPr lang="en-US" b="1" dirty="0" err="1"/>
              <a:t>chính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59C828-A747-1342-79B2-2A8A8DEED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876" y="1293877"/>
            <a:ext cx="5596964" cy="20116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591053-F3F7-35DA-DA56-1A499F244EA5}"/>
              </a:ext>
            </a:extLst>
          </p:cNvPr>
          <p:cNvSpPr txBox="1"/>
          <p:nvPr/>
        </p:nvSpPr>
        <p:spPr>
          <a:xfrm>
            <a:off x="6594311" y="3429000"/>
            <a:ext cx="5324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Pipeline: </a:t>
            </a:r>
            <a:r>
              <a:rPr lang="en-US" dirty="0" err="1"/>
              <a:t>RetinaFace</a:t>
            </a:r>
            <a:r>
              <a:rPr lang="en-US" dirty="0"/>
              <a:t> → Margin → DTGAN →Blending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39B79B9-1161-DF0A-A872-F6C4D7B7631F}"/>
              </a:ext>
            </a:extLst>
          </p:cNvPr>
          <p:cNvSpPr/>
          <p:nvPr/>
        </p:nvSpPr>
        <p:spPr>
          <a:xfrm>
            <a:off x="6896063" y="4325114"/>
            <a:ext cx="4943893" cy="1239010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b="1" dirty="0">
                <a:solidFill>
                  <a:schemeClr val="tx1"/>
                </a:solidFill>
              </a:rPr>
              <a:t>Kích thước</a:t>
            </a:r>
            <a:r>
              <a:rPr lang="en-US" sz="1600" b="1" dirty="0">
                <a:solidFill>
                  <a:schemeClr val="tx1"/>
                </a:solidFill>
              </a:rPr>
              <a:t>	 </a:t>
            </a:r>
            <a:r>
              <a:rPr lang="vi-VN" sz="1600" dirty="0">
                <a:solidFill>
                  <a:schemeClr val="tx1"/>
                </a:solidFill>
              </a:rPr>
              <a:t>9.1 MB (ONNX)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b="1" dirty="0">
                <a:solidFill>
                  <a:schemeClr val="tx1"/>
                </a:solidFill>
              </a:rPr>
              <a:t>Tốc độ </a:t>
            </a:r>
            <a:r>
              <a:rPr lang="en-US" sz="1600" b="1" dirty="0">
                <a:solidFill>
                  <a:schemeClr val="tx1"/>
                </a:solidFill>
              </a:rPr>
              <a:t>	 </a:t>
            </a:r>
            <a:r>
              <a:rPr lang="vi-VN" sz="1600" dirty="0">
                <a:solidFill>
                  <a:schemeClr val="tx1"/>
                </a:solidFill>
              </a:rPr>
              <a:t>42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vi-VN" sz="1600" dirty="0">
                <a:solidFill>
                  <a:schemeClr val="tx1"/>
                </a:solidFill>
              </a:rPr>
              <a:t>FPS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b="1" dirty="0">
                <a:solidFill>
                  <a:schemeClr val="tx1"/>
                </a:solidFill>
              </a:rPr>
              <a:t>So với Diffusion </a:t>
            </a:r>
            <a:r>
              <a:rPr lang="vi-VN" sz="1600" dirty="0">
                <a:solidFill>
                  <a:schemeClr val="tx1"/>
                </a:solidFill>
              </a:rPr>
              <a:t>200× nhỏ hơn, 20× nhanh hơn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0A67FCB7-039B-2E78-C72D-36FD47F01905}"/>
              </a:ext>
            </a:extLst>
          </p:cNvPr>
          <p:cNvSpPr/>
          <p:nvPr/>
        </p:nvSpPr>
        <p:spPr>
          <a:xfrm>
            <a:off x="6896063" y="3822193"/>
            <a:ext cx="4943893" cy="502920"/>
          </a:xfrm>
          <a:prstGeom prst="round2Same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r>
              <a:rPr lang="en-US" b="1" dirty="0"/>
              <a:t> </a:t>
            </a:r>
            <a:r>
              <a:rPr lang="en-US" b="1" dirty="0" err="1"/>
              <a:t>triển</a:t>
            </a:r>
            <a:r>
              <a:rPr lang="en-US" b="1" dirty="0"/>
              <a:t> </a:t>
            </a:r>
            <a:r>
              <a:rPr lang="en-US" b="1" dirty="0" err="1"/>
              <a:t>khai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64003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0F924-B88C-399A-8F0E-C862D0681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2940E27-06E6-8DB1-E33E-8078BE55BB80}"/>
              </a:ext>
            </a:extLst>
          </p:cNvPr>
          <p:cNvSpPr/>
          <p:nvPr/>
        </p:nvSpPr>
        <p:spPr>
          <a:xfrm>
            <a:off x="0" y="0"/>
            <a:ext cx="12192000" cy="777240"/>
          </a:xfrm>
          <a:prstGeom prst="roundRect">
            <a:avLst>
              <a:gd name="adj" fmla="val 0"/>
            </a:avLst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3. </a:t>
            </a:r>
            <a:r>
              <a:rPr lang="en-US" sz="3200" b="1" dirty="0" err="1"/>
              <a:t>Kết</a:t>
            </a:r>
            <a:r>
              <a:rPr lang="en-US" sz="3200" b="1" dirty="0"/>
              <a:t> </a:t>
            </a:r>
            <a:r>
              <a:rPr lang="en-US" sz="3200" b="1" dirty="0" err="1"/>
              <a:t>quả</a:t>
            </a:r>
            <a:r>
              <a:rPr lang="en-US" sz="3200" b="1" dirty="0"/>
              <a:t> </a:t>
            </a:r>
            <a:r>
              <a:rPr lang="en-US" sz="3200" b="1" dirty="0" err="1"/>
              <a:t>thực</a:t>
            </a:r>
            <a:r>
              <a:rPr lang="en-US" sz="3200" b="1" dirty="0"/>
              <a:t> </a:t>
            </a:r>
            <a:r>
              <a:rPr lang="en-US" sz="3200" b="1" dirty="0" err="1"/>
              <a:t>nghiệm</a:t>
            </a:r>
            <a:r>
              <a:rPr lang="en-US" sz="3200" b="1" dirty="0"/>
              <a:t> </a:t>
            </a:r>
            <a:r>
              <a:rPr lang="en-US" sz="3200" b="1" dirty="0" err="1"/>
              <a:t>hiện</a:t>
            </a:r>
            <a:r>
              <a:rPr lang="en-US" sz="3200" b="1" dirty="0"/>
              <a:t> </a:t>
            </a:r>
            <a:r>
              <a:rPr lang="en-US" sz="3200" b="1" dirty="0" err="1"/>
              <a:t>tại</a:t>
            </a:r>
            <a:endParaRPr lang="en-US" sz="32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EDD3E02-7448-4188-EE9C-7E92973A2455}"/>
              </a:ext>
            </a:extLst>
          </p:cNvPr>
          <p:cNvSpPr/>
          <p:nvPr/>
        </p:nvSpPr>
        <p:spPr>
          <a:xfrm>
            <a:off x="392375" y="1545337"/>
            <a:ext cx="5848405" cy="1883663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98538E35-DBE3-2798-37F9-99CBAA1220B6}"/>
              </a:ext>
            </a:extLst>
          </p:cNvPr>
          <p:cNvSpPr/>
          <p:nvPr/>
        </p:nvSpPr>
        <p:spPr>
          <a:xfrm>
            <a:off x="392374" y="1042417"/>
            <a:ext cx="5848406" cy="502920"/>
          </a:xfrm>
          <a:prstGeom prst="round2Same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b="1" dirty="0"/>
              <a:t>So sánh định lượng (GAN baselines)</a:t>
            </a:r>
            <a:endParaRPr lang="en-US" b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A887D9-884D-2D0A-D198-DB293D74EB3B}"/>
              </a:ext>
            </a:extLst>
          </p:cNvPr>
          <p:cNvSpPr/>
          <p:nvPr/>
        </p:nvSpPr>
        <p:spPr>
          <a:xfrm>
            <a:off x="352044" y="4306825"/>
            <a:ext cx="5888736" cy="1883663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C622BC60-3218-4FE1-6EA5-BA6305D6128D}"/>
              </a:ext>
            </a:extLst>
          </p:cNvPr>
          <p:cNvSpPr/>
          <p:nvPr/>
        </p:nvSpPr>
        <p:spPr>
          <a:xfrm>
            <a:off x="352044" y="3803905"/>
            <a:ext cx="5888736" cy="502920"/>
          </a:xfrm>
          <a:prstGeom prst="round2Same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kỹ</a:t>
            </a:r>
            <a:r>
              <a:rPr lang="en-US" b="1" dirty="0"/>
              <a:t> </a:t>
            </a:r>
            <a:r>
              <a:rPr lang="en-US" b="1" dirty="0" err="1"/>
              <a:t>thuật</a:t>
            </a:r>
            <a:r>
              <a:rPr lang="en-US" b="1" dirty="0"/>
              <a:t> </a:t>
            </a:r>
            <a:r>
              <a:rPr lang="en-US" b="1" dirty="0" err="1"/>
              <a:t>chính</a:t>
            </a:r>
            <a:endParaRPr lang="en-US" b="1" dirty="0"/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0ABCED1-41D7-9B0F-1959-9EFFE96C93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609853"/>
              </p:ext>
            </p:extLst>
          </p:nvPr>
        </p:nvGraphicFramePr>
        <p:xfrm>
          <a:off x="789940" y="1675260"/>
          <a:ext cx="3988562" cy="1733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695658" imgH="1171536" progId="Excel.Sheet.12">
                  <p:embed/>
                </p:oleObj>
              </mc:Choice>
              <mc:Fallback>
                <p:oleObj name="Worksheet" r:id="rId2" imgW="2695658" imgH="117153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9940" y="1675260"/>
                        <a:ext cx="3988562" cy="1733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30AFAE17-6326-7A63-9AA4-45D072C64C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031585"/>
              </p:ext>
            </p:extLst>
          </p:nvPr>
        </p:nvGraphicFramePr>
        <p:xfrm>
          <a:off x="789940" y="4466781"/>
          <a:ext cx="5233988" cy="122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390741" imgH="790639" progId="Excel.Sheet.12">
                  <p:embed/>
                </p:oleObj>
              </mc:Choice>
              <mc:Fallback>
                <p:oleObj name="Worksheet" r:id="rId4" imgW="3390741" imgH="79063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89940" y="4466781"/>
                        <a:ext cx="5233988" cy="1220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4F1C389-6EA4-7736-4C6A-445F920A5C1C}"/>
              </a:ext>
            </a:extLst>
          </p:cNvPr>
          <p:cNvSpPr/>
          <p:nvPr/>
        </p:nvSpPr>
        <p:spPr>
          <a:xfrm>
            <a:off x="6343595" y="1545339"/>
            <a:ext cx="4839517" cy="1142997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dirty="0">
                <a:solidFill>
                  <a:schemeClr val="tx1"/>
                </a:solidFill>
              </a:rPr>
              <a:t>Phân nhóm: 12 Experts + 30 Laypersons.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dirty="0">
                <a:solidFill>
                  <a:schemeClr val="tx1"/>
                </a:solidFill>
              </a:rPr>
              <a:t>Ưa chuộng: 88.8% ưu tiên Hybrid Mode.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dirty="0">
                <a:solidFill>
                  <a:schemeClr val="tx1"/>
                </a:solidFill>
              </a:rPr>
              <a:t>Thống kê: p &gt; 0.75 (Mann-Whitney U).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B859B047-0E63-B2AF-CB54-16BAC8C3883D}"/>
              </a:ext>
            </a:extLst>
          </p:cNvPr>
          <p:cNvSpPr/>
          <p:nvPr/>
        </p:nvSpPr>
        <p:spPr>
          <a:xfrm>
            <a:off x="6343594" y="1042419"/>
            <a:ext cx="4839517" cy="502920"/>
          </a:xfrm>
          <a:prstGeom prst="round2Same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User Study (42 </a:t>
            </a:r>
            <a:r>
              <a:rPr lang="en-US" b="1" dirty="0" err="1"/>
              <a:t>người</a:t>
            </a:r>
            <a:r>
              <a:rPr lang="en-US" b="1" dirty="0"/>
              <a:t> </a:t>
            </a:r>
            <a:r>
              <a:rPr lang="en-US" b="1" dirty="0" err="1"/>
              <a:t>tham</a:t>
            </a:r>
            <a:r>
              <a:rPr lang="en-US" b="1" dirty="0"/>
              <a:t> </a:t>
            </a:r>
            <a:r>
              <a:rPr lang="en-US" b="1" dirty="0" err="1"/>
              <a:t>gia</a:t>
            </a:r>
            <a:r>
              <a:rPr lang="en-US" b="1" dirty="0"/>
              <a:t>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E1458B4-D782-75AE-8CA7-9060F23C6C96}"/>
              </a:ext>
            </a:extLst>
          </p:cNvPr>
          <p:cNvSpPr/>
          <p:nvPr/>
        </p:nvSpPr>
        <p:spPr>
          <a:xfrm>
            <a:off x="6343594" y="3233160"/>
            <a:ext cx="4943893" cy="1389887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dirty="0">
                <a:solidFill>
                  <a:schemeClr val="tx1"/>
                </a:solidFill>
              </a:rPr>
              <a:t>Cải thiện </a:t>
            </a:r>
            <a:r>
              <a:rPr lang="vi-VN" sz="1600" b="1" dirty="0">
                <a:solidFill>
                  <a:schemeClr val="tx1"/>
                </a:solidFill>
              </a:rPr>
              <a:t>8.7% FID </a:t>
            </a:r>
            <a:r>
              <a:rPr lang="vi-VN" sz="1600" dirty="0">
                <a:solidFill>
                  <a:schemeClr val="tx1"/>
                </a:solidFill>
              </a:rPr>
              <a:t>nhờ xử lý vùng mặt.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dirty="0">
                <a:solidFill>
                  <a:schemeClr val="tx1"/>
                </a:solidFill>
              </a:rPr>
              <a:t>Đạt tốc độ </a:t>
            </a:r>
            <a:r>
              <a:rPr lang="vi-VN" sz="1600" b="1" dirty="0">
                <a:solidFill>
                  <a:schemeClr val="tx1"/>
                </a:solidFill>
              </a:rPr>
              <a:t>42 FPS </a:t>
            </a:r>
            <a:r>
              <a:rPr lang="vi-VN" sz="1600" dirty="0">
                <a:solidFill>
                  <a:schemeClr val="tx1"/>
                </a:solidFill>
              </a:rPr>
              <a:t>trên GPU RTX A5000.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2E591AB5-A788-3893-3085-760400F1E696}"/>
              </a:ext>
            </a:extLst>
          </p:cNvPr>
          <p:cNvSpPr/>
          <p:nvPr/>
        </p:nvSpPr>
        <p:spPr>
          <a:xfrm>
            <a:off x="6343594" y="2862073"/>
            <a:ext cx="4943893" cy="371087"/>
          </a:xfrm>
          <a:prstGeom prst="round2Same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b="1" dirty="0"/>
              <a:t>Đóng góp đạt được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4031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66BF4-4B2F-8176-4498-FAFABC02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893FC1-00EE-8B32-952F-665633036396}"/>
              </a:ext>
            </a:extLst>
          </p:cNvPr>
          <p:cNvSpPr/>
          <p:nvPr/>
        </p:nvSpPr>
        <p:spPr>
          <a:xfrm>
            <a:off x="0" y="0"/>
            <a:ext cx="12192000" cy="777240"/>
          </a:xfrm>
          <a:prstGeom prst="roundRect">
            <a:avLst>
              <a:gd name="adj" fmla="val 0"/>
            </a:avLst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4. </a:t>
            </a:r>
            <a:r>
              <a:rPr lang="en-US" sz="3200" b="1" dirty="0" err="1"/>
              <a:t>Kế</a:t>
            </a:r>
            <a:r>
              <a:rPr lang="en-US" sz="3200" b="1" dirty="0"/>
              <a:t> </a:t>
            </a:r>
            <a:r>
              <a:rPr lang="en-US" sz="3200" b="1" dirty="0" err="1"/>
              <a:t>hoạch</a:t>
            </a:r>
            <a:r>
              <a:rPr lang="en-US" sz="3200" b="1" dirty="0"/>
              <a:t> </a:t>
            </a:r>
            <a:r>
              <a:rPr lang="en-US" sz="3200" b="1" dirty="0" err="1"/>
              <a:t>hoàn</a:t>
            </a:r>
            <a:r>
              <a:rPr lang="en-US" sz="3200" b="1" dirty="0"/>
              <a:t> </a:t>
            </a:r>
            <a:r>
              <a:rPr lang="en-US" sz="3200" b="1" dirty="0" err="1"/>
              <a:t>thành</a:t>
            </a:r>
            <a:r>
              <a:rPr lang="en-US" sz="3200" b="1" dirty="0"/>
              <a:t> </a:t>
            </a:r>
            <a:r>
              <a:rPr lang="en-US" sz="3200" b="1" dirty="0" err="1"/>
              <a:t>luận</a:t>
            </a:r>
            <a:r>
              <a:rPr lang="en-US" sz="3200" b="1" dirty="0"/>
              <a:t> </a:t>
            </a:r>
            <a:r>
              <a:rPr lang="en-US" sz="3200" b="1" dirty="0" err="1"/>
              <a:t>văn</a:t>
            </a:r>
            <a:endParaRPr lang="en-US" sz="32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0E93F2B-EE2F-F9B5-736C-0E4458852AE1}"/>
              </a:ext>
            </a:extLst>
          </p:cNvPr>
          <p:cNvSpPr/>
          <p:nvPr/>
        </p:nvSpPr>
        <p:spPr>
          <a:xfrm>
            <a:off x="392375" y="1545337"/>
            <a:ext cx="5848405" cy="2285999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</a:rPr>
              <a:t>Hoàn </a:t>
            </a:r>
            <a:r>
              <a:rPr lang="en-US" sz="1600" dirty="0" err="1">
                <a:solidFill>
                  <a:schemeClr val="tx1"/>
                </a:solidFill>
              </a:rPr>
              <a:t>thiện</a:t>
            </a:r>
            <a:r>
              <a:rPr lang="en-US" sz="1600" dirty="0">
                <a:solidFill>
                  <a:schemeClr val="tx1"/>
                </a:solidFill>
              </a:rPr>
              <a:t> Luận </a:t>
            </a:r>
            <a:r>
              <a:rPr lang="en-US" sz="1600" dirty="0" err="1">
                <a:solidFill>
                  <a:schemeClr val="tx1"/>
                </a:solidFill>
              </a:rPr>
              <a:t>văn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en-US" sz="1600" dirty="0" err="1">
                <a:solidFill>
                  <a:schemeClr val="tx1"/>
                </a:solidFill>
              </a:rPr>
              <a:t>Rà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soát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văn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phong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kiểm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tra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định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dạng</a:t>
            </a:r>
            <a:r>
              <a:rPr lang="en-US" sz="1600" dirty="0">
                <a:solidFill>
                  <a:schemeClr val="tx1"/>
                </a:solidFill>
              </a:rPr>
              <a:t> Công </a:t>
            </a:r>
            <a:r>
              <a:rPr lang="en-US" sz="1600" dirty="0" err="1">
                <a:solidFill>
                  <a:schemeClr val="tx1"/>
                </a:solidFill>
              </a:rPr>
              <a:t>văn</a:t>
            </a:r>
            <a:r>
              <a:rPr lang="en-US" sz="1600" dirty="0">
                <a:solidFill>
                  <a:schemeClr val="tx1"/>
                </a:solidFill>
              </a:rPr>
              <a:t> 139/ĐT-2012 </a:t>
            </a:r>
            <a:r>
              <a:rPr lang="en-US" sz="1600" dirty="0" err="1">
                <a:solidFill>
                  <a:schemeClr val="tx1"/>
                </a:solidFill>
              </a:rPr>
              <a:t>của</a:t>
            </a:r>
            <a:r>
              <a:rPr lang="en-US" sz="1600" dirty="0">
                <a:solidFill>
                  <a:schemeClr val="tx1"/>
                </a:solidFill>
              </a:rPr>
              <a:t> UET.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err="1">
                <a:solidFill>
                  <a:schemeClr val="tx1"/>
                </a:solidFill>
              </a:rPr>
              <a:t>Bài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báo</a:t>
            </a:r>
            <a:r>
              <a:rPr lang="en-US" sz="1600" dirty="0">
                <a:solidFill>
                  <a:schemeClr val="tx1"/>
                </a:solidFill>
              </a:rPr>
              <a:t> khoa </a:t>
            </a:r>
            <a:r>
              <a:rPr lang="en-US" sz="1600" dirty="0" err="1">
                <a:solidFill>
                  <a:schemeClr val="tx1"/>
                </a:solidFill>
              </a:rPr>
              <a:t>học</a:t>
            </a:r>
            <a:r>
              <a:rPr lang="en-US" sz="1600" dirty="0">
                <a:solidFill>
                  <a:schemeClr val="tx1"/>
                </a:solidFill>
              </a:rPr>
              <a:t>: Hoàn </a:t>
            </a:r>
            <a:r>
              <a:rPr lang="en-US" sz="1600" dirty="0" err="1">
                <a:solidFill>
                  <a:schemeClr val="tx1"/>
                </a:solidFill>
              </a:rPr>
              <a:t>thành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bài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báo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tạp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chí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tiếng</a:t>
            </a:r>
            <a:r>
              <a:rPr lang="en-US" sz="1600" dirty="0">
                <a:solidFill>
                  <a:schemeClr val="tx1"/>
                </a:solidFill>
              </a:rPr>
              <a:t> Anh (IEEE style), </a:t>
            </a:r>
            <a:r>
              <a:rPr lang="en-US" sz="1600" dirty="0" err="1">
                <a:solidFill>
                  <a:schemeClr val="tx1"/>
                </a:solidFill>
              </a:rPr>
              <a:t>chuẩn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bị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nộp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bài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 err="1">
                <a:solidFill>
                  <a:schemeClr val="tx1"/>
                </a:solidFill>
              </a:rPr>
              <a:t>Chuẩn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bị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bảo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vệ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r>
              <a:rPr lang="en-US" sz="1600" dirty="0" err="1">
                <a:solidFill>
                  <a:schemeClr val="tx1"/>
                </a:solidFill>
              </a:rPr>
              <a:t>Đóng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gói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mô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hình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demoweb</a:t>
            </a:r>
            <a:r>
              <a:rPr lang="en-US" sz="1600" dirty="0">
                <a:solidFill>
                  <a:schemeClr val="tx1"/>
                </a:solidFill>
              </a:rPr>
              <a:t>/ONNX, </a:t>
            </a:r>
            <a:r>
              <a:rPr lang="en-US" sz="1600" dirty="0" err="1">
                <a:solidFill>
                  <a:schemeClr val="tx1"/>
                </a:solidFill>
              </a:rPr>
              <a:t>hoàn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thiện</a:t>
            </a:r>
            <a:r>
              <a:rPr lang="en-US" sz="1600" dirty="0">
                <a:solidFill>
                  <a:schemeClr val="tx1"/>
                </a:solidFill>
              </a:rPr>
              <a:t> slide </a:t>
            </a:r>
            <a:r>
              <a:rPr lang="en-US" sz="1600" dirty="0" err="1">
                <a:solidFill>
                  <a:schemeClr val="tx1"/>
                </a:solidFill>
              </a:rPr>
              <a:t>báo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cáo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chính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thức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CDB26888-1318-716C-1D07-07FEDCD5277D}"/>
              </a:ext>
            </a:extLst>
          </p:cNvPr>
          <p:cNvSpPr/>
          <p:nvPr/>
        </p:nvSpPr>
        <p:spPr>
          <a:xfrm>
            <a:off x="392374" y="1042417"/>
            <a:ext cx="5848406" cy="502920"/>
          </a:xfrm>
          <a:prstGeom prst="round2Same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b="1" dirty="0"/>
              <a:t>Các nhiệm vụ trọng tâm</a:t>
            </a:r>
            <a:endParaRPr lang="en-US" b="1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F8F6CEA-4359-795F-BAF3-31C14F3C1FC8}"/>
              </a:ext>
            </a:extLst>
          </p:cNvPr>
          <p:cNvSpPr/>
          <p:nvPr/>
        </p:nvSpPr>
        <p:spPr>
          <a:xfrm>
            <a:off x="6343595" y="1545339"/>
            <a:ext cx="4839517" cy="2724909"/>
          </a:xfrm>
          <a:prstGeom prst="roundRect">
            <a:avLst>
              <a:gd name="adj" fmla="val 0"/>
            </a:avLst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DFA93B95-E717-D905-7064-64885DF30B46}"/>
              </a:ext>
            </a:extLst>
          </p:cNvPr>
          <p:cNvSpPr/>
          <p:nvPr/>
        </p:nvSpPr>
        <p:spPr>
          <a:xfrm>
            <a:off x="6343594" y="1042419"/>
            <a:ext cx="4839517" cy="502920"/>
          </a:xfrm>
          <a:prstGeom prst="round2Same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Timeline </a:t>
            </a:r>
            <a:r>
              <a:rPr lang="en-US" b="1" dirty="0" err="1"/>
              <a:t>dự</a:t>
            </a:r>
            <a:r>
              <a:rPr lang="en-US" b="1" dirty="0"/>
              <a:t> </a:t>
            </a:r>
            <a:r>
              <a:rPr lang="en-US" b="1" dirty="0" err="1"/>
              <a:t>kiến</a:t>
            </a:r>
            <a:endParaRPr lang="en-US" b="1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5B674F0-0F29-2450-B679-F7F8A4C625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434298"/>
              </p:ext>
            </p:extLst>
          </p:nvPr>
        </p:nvGraphicFramePr>
        <p:xfrm>
          <a:off x="6553200" y="1698625"/>
          <a:ext cx="4392613" cy="250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419658" imgH="2124126" progId="Excel.Sheet.12">
                  <p:embed/>
                </p:oleObj>
              </mc:Choice>
              <mc:Fallback>
                <p:oleObj name="Worksheet" r:id="rId2" imgW="4419658" imgH="212412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53200" y="1698625"/>
                        <a:ext cx="4392613" cy="2505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96F8D0-7E35-97A8-8971-4B0B463C4650}"/>
              </a:ext>
            </a:extLst>
          </p:cNvPr>
          <p:cNvSpPr/>
          <p:nvPr/>
        </p:nvSpPr>
        <p:spPr>
          <a:xfrm>
            <a:off x="6343594" y="4794115"/>
            <a:ext cx="4943893" cy="1389887"/>
          </a:xfrm>
          <a:prstGeom prst="roundRect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b="1" dirty="0">
                <a:solidFill>
                  <a:schemeClr val="tx1"/>
                </a:solidFill>
              </a:rPr>
              <a:t>Bản thảo Luận văn: </a:t>
            </a:r>
            <a:r>
              <a:rPr lang="vi-VN" sz="1600" dirty="0">
                <a:solidFill>
                  <a:schemeClr val="tx1"/>
                </a:solidFill>
              </a:rPr>
              <a:t>Đã viết xong </a:t>
            </a:r>
            <a:r>
              <a:rPr lang="en-US" sz="1600" dirty="0">
                <a:solidFill>
                  <a:schemeClr val="tx1"/>
                </a:solidFill>
              </a:rPr>
              <a:t>5</a:t>
            </a:r>
            <a:r>
              <a:rPr lang="vi-VN" sz="1600" dirty="0">
                <a:solidFill>
                  <a:schemeClr val="tx1"/>
                </a:solidFill>
              </a:rPr>
              <a:t>/6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vi-VN" sz="1600" dirty="0">
                <a:solidFill>
                  <a:schemeClr val="tx1"/>
                </a:solidFill>
              </a:rPr>
              <a:t>chương.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600" b="1" dirty="0">
                <a:solidFill>
                  <a:schemeClr val="tx1"/>
                </a:solidFill>
              </a:rPr>
              <a:t>Định dạng: </a:t>
            </a:r>
            <a:r>
              <a:rPr lang="vi-VN" sz="1600" dirty="0">
                <a:solidFill>
                  <a:schemeClr val="tx1"/>
                </a:solidFill>
              </a:rPr>
              <a:t>Đúng chuẩn UET (Côngvăn 139/ĐT).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5CAFB6FD-CCBE-121D-7913-647F2FACC3CB}"/>
              </a:ext>
            </a:extLst>
          </p:cNvPr>
          <p:cNvSpPr/>
          <p:nvPr/>
        </p:nvSpPr>
        <p:spPr>
          <a:xfrm>
            <a:off x="6343594" y="4423028"/>
            <a:ext cx="4943893" cy="371087"/>
          </a:xfrm>
          <a:prstGeom prst="round2Same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b="1" dirty="0"/>
              <a:t>Tổng kết Luận văn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78167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517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Worksheet</vt:lpstr>
      <vt:lpstr>ĐẠI HỌC QUỐC GIA HÀ NỘI TRƯỜNG ĐẠI HỌC CÔNG NGHỆ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Trọng Nhân Nguyễn</dc:creator>
  <cp:lastModifiedBy>Trọng Nhân Nguyễn</cp:lastModifiedBy>
  <cp:revision>4</cp:revision>
  <dcterms:created xsi:type="dcterms:W3CDTF">2026-07-20T14:11:50Z</dcterms:created>
  <dcterms:modified xsi:type="dcterms:W3CDTF">2026-07-21T16:57:28Z</dcterms:modified>
</cp:coreProperties>
</file>